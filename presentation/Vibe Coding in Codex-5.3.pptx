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embeddedFontLst>
    <p:embeddedFont>
      <p:font typeface="Inter" panose="02000503000000020004" pitchFamily="2" charset="0"/>
      <p:regular r:id="rId15"/>
      <p:bold r:id="rId16"/>
      <p:italic r:id="rId17"/>
      <p:boldItalic r:id="rId18"/>
    </p:embeddedFont>
    <p:embeddedFont>
      <p:font typeface="Inter SemiBold" panose="02000503000000020004" pitchFamily="2" charset="0"/>
      <p:regular r:id="rId19"/>
      <p:bold r:id="rId20"/>
      <p:italic r:id="rId21"/>
      <p:boldItalic r:id="rId22"/>
    </p:embeddedFont>
    <p:embeddedFont>
      <p:font typeface="Poppins" pitchFamily="2" charset="77"/>
      <p:regular r:id="rId23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14A89D-910C-4F28-B0B8-43BDB68E4E47}">
  <a:tblStyle styleId="{5914A89D-910C-4F28-B0B8-43BDB68E4E47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121" d="100"/>
          <a:sy n="121" d="100"/>
        </p:scale>
        <p:origin x="744" y="17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45005" cy="450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font" Target="fonts/font12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font" Target="fonts/font11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0.fntdata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1" name="Google Shape;161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305276" y="1813619"/>
            <a:ext cx="11581447" cy="1828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chemeClr val="bg1"/>
                </a:solidFill>
                <a:latin typeface="Poppins"/>
                <a:cs typeface="Poppins"/>
                <a:sym typeface="Poppins"/>
              </a:rPr>
              <a:t>VIBE CODING</a:t>
            </a:r>
            <a:br>
              <a:rPr lang="en-US" sz="1800" b="0" i="0" u="none" strike="noStrike" cap="none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 IN </a:t>
            </a:r>
            <a:r>
              <a:rPr lang="en-US" sz="5400" b="1" i="0" u="none" strike="noStrike" cap="none" dirty="0"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rPr>
              <a:t>CODEX-5.3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581025" y="3512641"/>
            <a:ext cx="1102995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D00FF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Architecting the Future of Agentic Workflows</a:t>
            </a:r>
            <a:endParaRPr/>
          </a:p>
        </p:txBody>
      </p:sp>
      <p:sp>
        <p:nvSpPr>
          <p:cNvPr id="87" name="Google Shape;87;p13"/>
          <p:cNvSpPr/>
          <p:nvPr/>
        </p:nvSpPr>
        <p:spPr>
          <a:xfrm>
            <a:off x="5619750" y="4320331"/>
            <a:ext cx="952500" cy="38100"/>
          </a:xfrm>
          <a:prstGeom prst="rect">
            <a:avLst/>
          </a:prstGeom>
          <a:solidFill>
            <a:srgbClr val="00F2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581025" y="4739431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 Multi-Agent Framework for High-Level Intent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/>
          <p:nvPr/>
        </p:nvSpPr>
        <p:spPr>
          <a:xfrm>
            <a:off x="305276" y="2142232"/>
            <a:ext cx="11581447" cy="6924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500" b="1" i="0" u="none" strike="noStrike" cap="none" dirty="0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RISE </a:t>
            </a:r>
            <a:r>
              <a:rPr lang="en-US" sz="4500" b="1" i="0" u="none" strike="noStrike" cap="none" dirty="0">
                <a:solidFill>
                  <a:schemeClr val="bg1"/>
                </a:solidFill>
                <a:latin typeface="Poppins"/>
                <a:ea typeface="Poppins"/>
                <a:cs typeface="Poppins"/>
                <a:sym typeface="Poppins"/>
              </a:rPr>
              <a:t>OF </a:t>
            </a:r>
            <a:r>
              <a:rPr lang="en-US" sz="4500" b="1" i="0" u="none" strike="noStrike" cap="none" dirty="0">
                <a:solidFill>
                  <a:schemeClr val="accent6"/>
                </a:solidFill>
                <a:latin typeface="Poppins"/>
                <a:ea typeface="Poppins"/>
                <a:cs typeface="Poppins"/>
                <a:sym typeface="Poppins"/>
              </a:rPr>
              <a:t>VIBE CODING</a:t>
            </a:r>
            <a:endParaRPr dirty="0">
              <a:solidFill>
                <a:schemeClr val="accent6"/>
              </a:solidFill>
            </a:endParaRPr>
          </a:p>
        </p:txBody>
      </p:sp>
      <p:sp>
        <p:nvSpPr>
          <p:cNvPr id="95" name="Google Shape;95;p14"/>
          <p:cNvSpPr/>
          <p:nvPr/>
        </p:nvSpPr>
        <p:spPr>
          <a:xfrm>
            <a:off x="5381625" y="3285232"/>
            <a:ext cx="1428750" cy="47625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2286000" y="3618607"/>
            <a:ext cx="7620000" cy="1097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Moving from manual syntax management to high-level intention orchestration. In Codex-5.3, we don't just write code; we cultivate vibes.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667000"/>
            <a:ext cx="5229225" cy="2476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67000"/>
            <a:ext cx="5229225" cy="2476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5"/>
          <p:cNvSpPr txBox="1"/>
          <p:nvPr/>
        </p:nvSpPr>
        <p:spPr>
          <a:xfrm>
            <a:off x="771525" y="581025"/>
            <a:ext cx="11381422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WHAT IS VIBE CODING?</a:t>
            </a:r>
            <a:endParaRPr/>
          </a:p>
        </p:txBody>
      </p:sp>
      <p:sp>
        <p:nvSpPr>
          <p:cNvPr id="105" name="Google Shape;105;p15"/>
          <p:cNvSpPr/>
          <p:nvPr/>
        </p:nvSpPr>
        <p:spPr>
          <a:xfrm>
            <a:off x="581025" y="581025"/>
            <a:ext cx="47625" cy="57150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5"/>
          <p:cNvSpPr txBox="1"/>
          <p:nvPr/>
        </p:nvSpPr>
        <p:spPr>
          <a:xfrm>
            <a:off x="971550" y="3057525"/>
            <a:ext cx="4670583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THE PHILOSOPHY</a:t>
            </a:r>
            <a:endParaRPr/>
          </a:p>
        </p:txBody>
      </p:sp>
      <p:sp>
        <p:nvSpPr>
          <p:cNvPr id="107" name="Google Shape;107;p15"/>
          <p:cNvSpPr txBox="1"/>
          <p:nvPr/>
        </p:nvSpPr>
        <p:spPr>
          <a:xfrm>
            <a:off x="971550" y="3533775"/>
            <a:ext cx="44481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Focus on vision and system logic while AI handles the boilerplate. It's about describing the "vibe" of the feature and letting specialized agents realize it.</a:t>
            </a:r>
            <a:endParaRPr/>
          </a:p>
        </p:txBody>
      </p:sp>
      <p:sp>
        <p:nvSpPr>
          <p:cNvPr id="108" name="Google Shape;108;p15"/>
          <p:cNvSpPr txBox="1"/>
          <p:nvPr/>
        </p:nvSpPr>
        <p:spPr>
          <a:xfrm>
            <a:off x="6772275" y="3057525"/>
            <a:ext cx="4670583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CODEX-5.3 FRAMEWORK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6772275" y="3533775"/>
            <a:ext cx="44481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An advanced environment specifically designed for multi-agent collaboration. It provides isolated contexts for Architect, Design, and Engineering roles.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Google Shape;11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25104"/>
            <a:ext cx="11029950" cy="2807791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16"/>
          <p:cNvSpPr txBox="1"/>
          <p:nvPr/>
        </p:nvSpPr>
        <p:spPr>
          <a:xfrm>
            <a:off x="915352" y="2606129"/>
            <a:ext cx="10361295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THE INTELLIGENT CORE</a:t>
            </a:r>
            <a:endParaRPr/>
          </a:p>
        </p:txBody>
      </p:sp>
      <p:sp>
        <p:nvSpPr>
          <p:cNvPr id="117" name="Google Shape;117;p16"/>
          <p:cNvSpPr txBox="1"/>
          <p:nvPr/>
        </p:nvSpPr>
        <p:spPr>
          <a:xfrm>
            <a:off x="1162050" y="3520529"/>
            <a:ext cx="9867900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The underlying neural fabric of Codex-5.3 powers the synthesis of complex requirements into functional, scalable software architectures.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Google Shape;122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000250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7"/>
          <p:cNvSpPr txBox="1"/>
          <p:nvPr/>
        </p:nvSpPr>
        <p:spPr>
          <a:xfrm>
            <a:off x="771525" y="581025"/>
            <a:ext cx="11381422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THE ROOT AGENT</a:t>
            </a:r>
            <a:endParaRPr/>
          </a:p>
        </p:txBody>
      </p:sp>
      <p:sp>
        <p:nvSpPr>
          <p:cNvPr id="125" name="Google Shape;125;p17"/>
          <p:cNvSpPr/>
          <p:nvPr/>
        </p:nvSpPr>
        <p:spPr>
          <a:xfrm>
            <a:off x="581025" y="581025"/>
            <a:ext cx="47625" cy="57150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7"/>
          <p:cNvSpPr txBox="1"/>
          <p:nvPr/>
        </p:nvSpPr>
        <p:spPr>
          <a:xfrm>
            <a:off x="581025" y="2633662"/>
            <a:ext cx="5490686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MASTER ORCHESTRATOR</a:t>
            </a:r>
            <a:endParaRPr/>
          </a:p>
        </p:txBody>
      </p:sp>
      <p:sp>
        <p:nvSpPr>
          <p:cNvPr id="127" name="Google Shape;127;p17"/>
          <p:cNvSpPr txBox="1"/>
          <p:nvPr/>
        </p:nvSpPr>
        <p:spPr>
          <a:xfrm>
            <a:off x="581025" y="2909887"/>
            <a:ext cx="5229225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Stored in </a:t>
            </a:r>
            <a:r>
              <a:rPr lang="en-US" sz="1500" b="0" i="0" u="none" strike="noStrike" cap="none" dirty="0" err="1">
                <a:solidFill>
                  <a:schemeClr val="accent6"/>
                </a:solidFill>
                <a:latin typeface="Inter"/>
                <a:ea typeface="Inter"/>
                <a:cs typeface="Inter"/>
                <a:sym typeface="Inter"/>
              </a:rPr>
              <a:t>AGENTS.md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, the Root Agent is the first point of contact for every session.</a:t>
            </a:r>
            <a:endParaRPr dirty="0"/>
          </a:p>
        </p:txBody>
      </p:sp>
      <p:pic>
        <p:nvPicPr>
          <p:cNvPr id="128" name="Google Shape;12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009775"/>
            <a:ext cx="52101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17"/>
          <p:cNvSpPr txBox="1"/>
          <p:nvPr/>
        </p:nvSpPr>
        <p:spPr>
          <a:xfrm>
            <a:off x="1057275" y="3719512"/>
            <a:ext cx="47529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Routes tasks to specialized agents</a:t>
            </a:r>
            <a:endParaRPr/>
          </a:p>
        </p:txBody>
      </p:sp>
      <p:sp>
        <p:nvSpPr>
          <p:cNvPr id="130" name="Google Shape;130;p17"/>
          <p:cNvSpPr txBox="1"/>
          <p:nvPr/>
        </p:nvSpPr>
        <p:spPr>
          <a:xfrm>
            <a:off x="1057275" y="4205287"/>
            <a:ext cx="47529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Maintains global project state</a:t>
            </a:r>
            <a:endParaRPr/>
          </a:p>
        </p:txBody>
      </p:sp>
      <p:sp>
        <p:nvSpPr>
          <p:cNvPr id="131" name="Google Shape;131;p17"/>
          <p:cNvSpPr txBox="1"/>
          <p:nvPr/>
        </p:nvSpPr>
        <p:spPr>
          <a:xfrm>
            <a:off x="1057275" y="4691062"/>
            <a:ext cx="4752975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Enforces system-wide constraints</a:t>
            </a:r>
            <a:endParaRPr/>
          </a:p>
        </p:txBody>
      </p:sp>
      <p:pic>
        <p:nvPicPr>
          <p:cNvPr id="132" name="Google Shape;132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81025" y="3757612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81025" y="4243387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1025" y="4729162"/>
            <a:ext cx="228600" cy="247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9" name="Google Shape;13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40" name="Google Shape;140;p18"/>
          <p:cNvSpPr txBox="1"/>
          <p:nvPr/>
        </p:nvSpPr>
        <p:spPr>
          <a:xfrm>
            <a:off x="771525" y="1847850"/>
            <a:ext cx="4990623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ARCHITECT &amp; PLANNER</a:t>
            </a:r>
            <a:endParaRPr/>
          </a:p>
        </p:txBody>
      </p:sp>
      <p:sp>
        <p:nvSpPr>
          <p:cNvPr id="141" name="Google Shape;141;p18"/>
          <p:cNvSpPr/>
          <p:nvPr/>
        </p:nvSpPr>
        <p:spPr>
          <a:xfrm>
            <a:off x="581025" y="1847850"/>
            <a:ext cx="47625" cy="57150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8"/>
          <p:cNvSpPr txBox="1"/>
          <p:nvPr/>
        </p:nvSpPr>
        <p:spPr>
          <a:xfrm>
            <a:off x="581025" y="2800350"/>
            <a:ext cx="49434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Path: .codex/agents/ARCHITECT.md</a:t>
            </a:r>
            <a:endParaRPr/>
          </a:p>
        </p:txBody>
      </p:sp>
      <p:sp>
        <p:nvSpPr>
          <p:cNvPr id="143" name="Google Shape;143;p18"/>
          <p:cNvSpPr txBox="1"/>
          <p:nvPr/>
        </p:nvSpPr>
        <p:spPr>
          <a:xfrm>
            <a:off x="581025" y="3200400"/>
            <a:ext cx="49434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Architect is the brain of the operation. It doesn't just write code; it designs systems.</a:t>
            </a:r>
            <a:endParaRPr dirty="0"/>
          </a:p>
        </p:txBody>
      </p:sp>
      <p:sp>
        <p:nvSpPr>
          <p:cNvPr id="144" name="Google Shape;144;p18"/>
          <p:cNvSpPr txBox="1"/>
          <p:nvPr/>
        </p:nvSpPr>
        <p:spPr>
          <a:xfrm>
            <a:off x="581025" y="3810000"/>
            <a:ext cx="4943475" cy="121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By separating the planning phase, Codex-5.3 ensures that every implementation follows a rigorous technical blueprint, preventing technical debt and spaghetti logic.</a:t>
            </a:r>
            <a:endParaRPr/>
          </a:p>
        </p:txBody>
      </p:sp>
      <p:pic>
        <p:nvPicPr>
          <p:cNvPr id="145" name="Google Shape;145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9525"/>
            <a:ext cx="6086475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1" name="Google Shape;151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00250"/>
            <a:ext cx="381000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2" name="Google Shape;152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962525" y="2000250"/>
            <a:ext cx="66484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3" name="Google Shape;153;p19"/>
          <p:cNvSpPr txBox="1"/>
          <p:nvPr/>
        </p:nvSpPr>
        <p:spPr>
          <a:xfrm>
            <a:off x="771525" y="581025"/>
            <a:ext cx="11381422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 dirty="0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UI/UX DESIGNER</a:t>
            </a:r>
            <a:endParaRPr dirty="0"/>
          </a:p>
        </p:txBody>
      </p:sp>
      <p:sp>
        <p:nvSpPr>
          <p:cNvPr id="154" name="Google Shape;154;p19"/>
          <p:cNvSpPr/>
          <p:nvPr/>
        </p:nvSpPr>
        <p:spPr>
          <a:xfrm>
            <a:off x="581025" y="581025"/>
            <a:ext cx="47625" cy="57150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5" name="Google Shape;155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90550" y="2009775"/>
            <a:ext cx="379095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19"/>
          <p:cNvSpPr txBox="1"/>
          <p:nvPr/>
        </p:nvSpPr>
        <p:spPr>
          <a:xfrm>
            <a:off x="5353050" y="2390775"/>
            <a:ext cx="6160770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VISUAL COHESION</a:t>
            </a:r>
            <a:endParaRPr/>
          </a:p>
        </p:txBody>
      </p:sp>
      <p:sp>
        <p:nvSpPr>
          <p:cNvPr id="157" name="Google Shape;157;p19"/>
          <p:cNvSpPr txBox="1"/>
          <p:nvPr/>
        </p:nvSpPr>
        <p:spPr>
          <a:xfrm>
            <a:off x="5353050" y="2867025"/>
            <a:ext cx="5867400" cy="7386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Designer agent (</a:t>
            </a:r>
            <a:r>
              <a:rPr lang="en-US" sz="1500" b="0" i="0" u="none" strike="noStrike" cap="none" dirty="0" err="1">
                <a:solidFill>
                  <a:schemeClr val="accent6"/>
                </a:solidFill>
                <a:latin typeface="Inter"/>
                <a:ea typeface="Inter"/>
                <a:cs typeface="Inter"/>
                <a:sym typeface="Inter"/>
              </a:rPr>
              <a:t>DESIGNER.md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 ensures that the application doesn't just work—it feels right.</a:t>
            </a:r>
            <a:endParaRPr dirty="0"/>
          </a:p>
        </p:txBody>
      </p:sp>
      <p:sp>
        <p:nvSpPr>
          <p:cNvPr id="158" name="Google Shape;158;p19"/>
          <p:cNvSpPr txBox="1"/>
          <p:nvPr/>
        </p:nvSpPr>
        <p:spPr>
          <a:xfrm>
            <a:off x="5353050" y="3676650"/>
            <a:ext cx="586740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It maintains the design system, optimizes user flows, and provides the CSS/Tailwind specifications that the Frontend agent will eventually implement.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3" name="Google Shape;163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4" name="Google Shape;164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495550"/>
            <a:ext cx="5229225" cy="281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81750" y="2495550"/>
            <a:ext cx="5229225" cy="2819400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0"/>
          <p:cNvSpPr txBox="1"/>
          <p:nvPr/>
        </p:nvSpPr>
        <p:spPr>
          <a:xfrm>
            <a:off x="771525" y="581025"/>
            <a:ext cx="11381422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FRONTEND ENGINEER</a:t>
            </a:r>
            <a:endParaRPr/>
          </a:p>
        </p:txBody>
      </p:sp>
      <p:sp>
        <p:nvSpPr>
          <p:cNvPr id="167" name="Google Shape;167;p20"/>
          <p:cNvSpPr/>
          <p:nvPr/>
        </p:nvSpPr>
        <p:spPr>
          <a:xfrm>
            <a:off x="581025" y="581025"/>
            <a:ext cx="47625" cy="57150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8" name="Google Shape;168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1550" y="2886075"/>
            <a:ext cx="571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20"/>
          <p:cNvSpPr txBox="1"/>
          <p:nvPr/>
        </p:nvSpPr>
        <p:spPr>
          <a:xfrm>
            <a:off x="971550" y="3533775"/>
            <a:ext cx="4670583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IMPLEMENTATION</a:t>
            </a:r>
            <a:endParaRPr/>
          </a:p>
        </p:txBody>
      </p:sp>
      <p:sp>
        <p:nvSpPr>
          <p:cNvPr id="170" name="Google Shape;170;p20"/>
          <p:cNvSpPr txBox="1"/>
          <p:nvPr/>
        </p:nvSpPr>
        <p:spPr>
          <a:xfrm>
            <a:off x="971550" y="4010025"/>
            <a:ext cx="444817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Translates design specifications into clean, modular React or Vue components with precision.</a:t>
            </a:r>
            <a:endParaRPr dirty="0"/>
          </a:p>
        </p:txBody>
      </p:sp>
      <p:pic>
        <p:nvPicPr>
          <p:cNvPr id="171" name="Google Shape;171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772275" y="2886075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0"/>
          <p:cNvSpPr txBox="1"/>
          <p:nvPr/>
        </p:nvSpPr>
        <p:spPr>
          <a:xfrm>
            <a:off x="6772275" y="3533775"/>
            <a:ext cx="4670583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INTERACTIVITY</a:t>
            </a:r>
            <a:endParaRPr/>
          </a:p>
        </p:txBody>
      </p:sp>
      <p:sp>
        <p:nvSpPr>
          <p:cNvPr id="173" name="Google Shape;173;p20"/>
          <p:cNvSpPr txBox="1"/>
          <p:nvPr/>
        </p:nvSpPr>
        <p:spPr>
          <a:xfrm>
            <a:off x="6772275" y="4010025"/>
            <a:ext cx="4448175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Handles state management, API integration, and performance optimization for the client side.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79" name="Google Shape;179;p21"/>
          <p:cNvSpPr txBox="1"/>
          <p:nvPr/>
        </p:nvSpPr>
        <p:spPr>
          <a:xfrm>
            <a:off x="771525" y="581025"/>
            <a:ext cx="11381422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AGENT RESPONSIBILITY MATRIX</a:t>
            </a:r>
            <a:endParaRPr/>
          </a:p>
        </p:txBody>
      </p:sp>
      <p:sp>
        <p:nvSpPr>
          <p:cNvPr id="180" name="Google Shape;180;p21"/>
          <p:cNvSpPr/>
          <p:nvPr/>
        </p:nvSpPr>
        <p:spPr>
          <a:xfrm>
            <a:off x="581025" y="581025"/>
            <a:ext cx="47625" cy="57150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1" name="Google Shape;181;p21"/>
          <p:cNvGraphicFramePr/>
          <p:nvPr>
            <p:extLst>
              <p:ext uri="{D42A27DB-BD31-4B8C-83A1-F6EECF244321}">
                <p14:modId xmlns:p14="http://schemas.microsoft.com/office/powerpoint/2010/main" val="4028577381"/>
              </p:ext>
            </p:extLst>
          </p:nvPr>
        </p:nvGraphicFramePr>
        <p:xfrm>
          <a:off x="581025" y="2524125"/>
          <a:ext cx="11029950" cy="295275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776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40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135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 dirty="0">
                          <a:solidFill>
                            <a:srgbClr val="00F2FF"/>
                          </a:solidFill>
                          <a:sym typeface="Inter"/>
                        </a:rPr>
                        <a:t>Agent Role</a:t>
                      </a:r>
                      <a:endParaRPr dirty="0"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00F2FF"/>
                          </a:solidFill>
                          <a:sym typeface="Inter"/>
                        </a:rPr>
                        <a:t>Storage Path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b="1" u="none" strike="noStrike" cap="none">
                          <a:solidFill>
                            <a:srgbClr val="00F2FF"/>
                          </a:solidFill>
                          <a:sym typeface="Inter"/>
                        </a:rPr>
                        <a:t>Primary Objective</a:t>
                      </a:r>
                      <a:endParaRPr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Root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AGENTS.md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Orchestration &amp; State Management</a:t>
                      </a:r>
                      <a:endParaRPr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Architect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.codex/agents/ARCHITECT.md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System Planning &amp; Tech Selection</a:t>
                      </a:r>
                      <a:endParaRPr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Frontend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.codex/agents/FRONTEND.md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UI Logic &amp; Component Build</a:t>
                      </a:r>
                      <a:endParaRPr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0550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QA / Test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>
                          <a:solidFill>
                            <a:srgbClr val="F8FAFC"/>
                          </a:solidFill>
                          <a:sym typeface="Inter"/>
                        </a:rPr>
                        <a:t>.codex/agents/QA.md</a:t>
                      </a:r>
                      <a:endParaRPr/>
                    </a:p>
                  </a:txBody>
                  <a:tcPr marL="63500" marR="63500" marT="25400" marB="2540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50" b="0" u="none" strike="noStrike" cap="none" dirty="0">
                          <a:solidFill>
                            <a:srgbClr val="F8FAFC"/>
                          </a:solidFill>
                          <a:sym typeface="Inter"/>
                        </a:rPr>
                        <a:t>Validation &amp; Edge Case Catching</a:t>
                      </a:r>
                      <a:endParaRPr dirty="0"/>
                    </a:p>
                  </a:txBody>
                  <a:tcPr marL="63500" marR="63500" marT="25400" marB="2540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2" name="Google Shape;182;p21"/>
          <p:cNvSpPr/>
          <p:nvPr/>
        </p:nvSpPr>
        <p:spPr>
          <a:xfrm>
            <a:off x="581025" y="3086100"/>
            <a:ext cx="1776114" cy="1905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21"/>
          <p:cNvSpPr/>
          <p:nvPr/>
        </p:nvSpPr>
        <p:spPr>
          <a:xfrm>
            <a:off x="2357139" y="3086100"/>
            <a:ext cx="4340274" cy="1905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1"/>
          <p:cNvSpPr/>
          <p:nvPr/>
        </p:nvSpPr>
        <p:spPr>
          <a:xfrm>
            <a:off x="6697414" y="3086100"/>
            <a:ext cx="4913560" cy="1905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1"/>
          <p:cNvSpPr/>
          <p:nvPr/>
        </p:nvSpPr>
        <p:spPr>
          <a:xfrm>
            <a:off x="581025" y="3690937"/>
            <a:ext cx="1776114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21"/>
          <p:cNvSpPr/>
          <p:nvPr/>
        </p:nvSpPr>
        <p:spPr>
          <a:xfrm>
            <a:off x="2357139" y="3690937"/>
            <a:ext cx="4340274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1"/>
          <p:cNvSpPr/>
          <p:nvPr/>
        </p:nvSpPr>
        <p:spPr>
          <a:xfrm>
            <a:off x="6697414" y="3690937"/>
            <a:ext cx="491356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1"/>
          <p:cNvSpPr/>
          <p:nvPr/>
        </p:nvSpPr>
        <p:spPr>
          <a:xfrm>
            <a:off x="581025" y="4281487"/>
            <a:ext cx="1776114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1"/>
          <p:cNvSpPr/>
          <p:nvPr/>
        </p:nvSpPr>
        <p:spPr>
          <a:xfrm>
            <a:off x="2357139" y="4281487"/>
            <a:ext cx="4340274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1"/>
          <p:cNvSpPr/>
          <p:nvPr/>
        </p:nvSpPr>
        <p:spPr>
          <a:xfrm>
            <a:off x="6697414" y="4281487"/>
            <a:ext cx="491356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1"/>
          <p:cNvSpPr/>
          <p:nvPr/>
        </p:nvSpPr>
        <p:spPr>
          <a:xfrm>
            <a:off x="581025" y="4872037"/>
            <a:ext cx="1776114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21"/>
          <p:cNvSpPr/>
          <p:nvPr/>
        </p:nvSpPr>
        <p:spPr>
          <a:xfrm>
            <a:off x="2357139" y="4872037"/>
            <a:ext cx="4340274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1"/>
          <p:cNvSpPr/>
          <p:nvPr/>
        </p:nvSpPr>
        <p:spPr>
          <a:xfrm>
            <a:off x="6697414" y="4872037"/>
            <a:ext cx="491356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21"/>
          <p:cNvSpPr/>
          <p:nvPr/>
        </p:nvSpPr>
        <p:spPr>
          <a:xfrm>
            <a:off x="581025" y="5462587"/>
            <a:ext cx="1776114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1"/>
          <p:cNvSpPr/>
          <p:nvPr/>
        </p:nvSpPr>
        <p:spPr>
          <a:xfrm>
            <a:off x="2357139" y="5462587"/>
            <a:ext cx="4340274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21"/>
          <p:cNvSpPr/>
          <p:nvPr/>
        </p:nvSpPr>
        <p:spPr>
          <a:xfrm>
            <a:off x="6697414" y="5462587"/>
            <a:ext cx="4913560" cy="9525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Google Shape;201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662237"/>
            <a:ext cx="5229225" cy="2486025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22"/>
          <p:cNvSpPr txBox="1"/>
          <p:nvPr/>
        </p:nvSpPr>
        <p:spPr>
          <a:xfrm>
            <a:off x="771525" y="581025"/>
            <a:ext cx="11381422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RELIABILITY VIA QA AGENT</a:t>
            </a:r>
            <a:endParaRPr/>
          </a:p>
        </p:txBody>
      </p:sp>
      <p:sp>
        <p:nvSpPr>
          <p:cNvPr id="204" name="Google Shape;204;p22"/>
          <p:cNvSpPr/>
          <p:nvPr/>
        </p:nvSpPr>
        <p:spPr>
          <a:xfrm>
            <a:off x="581025" y="581025"/>
            <a:ext cx="47625" cy="57150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2"/>
          <p:cNvSpPr txBox="1"/>
          <p:nvPr/>
        </p:nvSpPr>
        <p:spPr>
          <a:xfrm>
            <a:off x="581025" y="2895600"/>
            <a:ext cx="5229225" cy="17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99%</a:t>
            </a:r>
            <a:endParaRPr/>
          </a:p>
        </p:txBody>
      </p:sp>
      <p:sp>
        <p:nvSpPr>
          <p:cNvPr id="206" name="Google Shape;206;p22"/>
          <p:cNvSpPr txBox="1"/>
          <p:nvPr/>
        </p:nvSpPr>
        <p:spPr>
          <a:xfrm>
            <a:off x="581025" y="4610100"/>
            <a:ext cx="5229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00F2FF"/>
                </a:solidFill>
                <a:latin typeface="Inter"/>
                <a:ea typeface="Inter"/>
                <a:cs typeface="Inter"/>
                <a:sym typeface="Inter"/>
              </a:rPr>
              <a:t>SUCCESS RATE</a:t>
            </a:r>
            <a:endParaRPr/>
          </a:p>
        </p:txBody>
      </p:sp>
      <p:sp>
        <p:nvSpPr>
          <p:cNvPr id="207" name="Google Shape;207;p22"/>
          <p:cNvSpPr txBox="1"/>
          <p:nvPr/>
        </p:nvSpPr>
        <p:spPr>
          <a:xfrm>
            <a:off x="6772275" y="3052762"/>
            <a:ext cx="4670583" cy="3333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THE FINAL GATEKEEPER</a:t>
            </a:r>
            <a:endParaRPr/>
          </a:p>
        </p:txBody>
      </p:sp>
      <p:sp>
        <p:nvSpPr>
          <p:cNvPr id="208" name="Google Shape;208;p22"/>
          <p:cNvSpPr txBox="1"/>
          <p:nvPr/>
        </p:nvSpPr>
        <p:spPr>
          <a:xfrm>
            <a:off x="6772275" y="3529012"/>
            <a:ext cx="4448175" cy="1477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The QA Engineer agent (</a:t>
            </a:r>
            <a:r>
              <a:rPr lang="en-US" sz="1500" b="0" i="0" u="none" strike="noStrike" cap="none" dirty="0">
                <a:solidFill>
                  <a:schemeClr val="accent6"/>
                </a:solidFill>
                <a:latin typeface="Inter"/>
                <a:ea typeface="Inter"/>
                <a:cs typeface="Inter"/>
                <a:sym typeface="Inter"/>
              </a:rPr>
              <a:t>.codex/agents/</a:t>
            </a:r>
            <a:r>
              <a:rPr lang="en-US" sz="1500" b="0" i="0" u="none" strike="noStrike" cap="none" dirty="0" err="1">
                <a:solidFill>
                  <a:schemeClr val="accent6"/>
                </a:solidFill>
                <a:latin typeface="Inter"/>
                <a:ea typeface="Inter"/>
                <a:cs typeface="Inter"/>
                <a:sym typeface="Inter"/>
              </a:rPr>
              <a:t>QA.md</a:t>
            </a: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) runs automated test suites, validates UI behavior against design, and proactively hunts for bugs before the human ever sees the code.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3" name="Google Shape;213;p2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4" name="Google Shape;214;p2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1025" y="2000250"/>
            <a:ext cx="522922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3"/>
          <p:cNvSpPr txBox="1"/>
          <p:nvPr/>
        </p:nvSpPr>
        <p:spPr>
          <a:xfrm>
            <a:off x="771525" y="581025"/>
            <a:ext cx="11381422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1" i="0" u="none" strike="noStrike" cap="none">
                <a:solidFill>
                  <a:srgbClr val="00F2FF"/>
                </a:solidFill>
                <a:latin typeface="Poppins"/>
                <a:ea typeface="Poppins"/>
                <a:cs typeface="Poppins"/>
                <a:sym typeface="Poppins"/>
              </a:rPr>
              <a:t>ACCESSIBILITY &amp; CONTENT</a:t>
            </a:r>
            <a:endParaRPr/>
          </a:p>
        </p:txBody>
      </p:sp>
      <p:sp>
        <p:nvSpPr>
          <p:cNvPr id="216" name="Google Shape;216;p23"/>
          <p:cNvSpPr/>
          <p:nvPr/>
        </p:nvSpPr>
        <p:spPr>
          <a:xfrm>
            <a:off x="581025" y="581025"/>
            <a:ext cx="47625" cy="571500"/>
          </a:xfrm>
          <a:prstGeom prst="rect">
            <a:avLst/>
          </a:prstGeom>
          <a:solidFill>
            <a:srgbClr val="9D00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7" name="Google Shape;217;p2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0550" y="2009775"/>
            <a:ext cx="5210175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23"/>
          <p:cNvSpPr txBox="1"/>
          <p:nvPr/>
        </p:nvSpPr>
        <p:spPr>
          <a:xfrm>
            <a:off x="6858000" y="2805112"/>
            <a:ext cx="47529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Semantic HTML:</a:t>
            </a:r>
            <a:r>
              <a:rPr lang="en-US" sz="16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Ensures proper tag usage for screen readers.</a:t>
            </a:r>
            <a:endParaRPr/>
          </a:p>
        </p:txBody>
      </p:sp>
      <p:sp>
        <p:nvSpPr>
          <p:cNvPr id="219" name="Google Shape;219;p23"/>
          <p:cNvSpPr txBox="1"/>
          <p:nvPr/>
        </p:nvSpPr>
        <p:spPr>
          <a:xfrm>
            <a:off x="6858000" y="3538537"/>
            <a:ext cx="47529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ARIA Compliance:</a:t>
            </a:r>
            <a:r>
              <a:rPr lang="en-US" sz="16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Implements roles and labels correctly.</a:t>
            </a:r>
            <a:endParaRPr/>
          </a:p>
        </p:txBody>
      </p:sp>
      <p:sp>
        <p:nvSpPr>
          <p:cNvPr id="220" name="Google Shape;220;p23"/>
          <p:cNvSpPr txBox="1"/>
          <p:nvPr/>
        </p:nvSpPr>
        <p:spPr>
          <a:xfrm>
            <a:off x="6858000" y="4271962"/>
            <a:ext cx="4752975" cy="495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Copy Editing:</a:t>
            </a:r>
            <a:r>
              <a:rPr lang="en-US" sz="16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 Refines micro-copy for clarity and tone.</a:t>
            </a:r>
            <a:endParaRPr/>
          </a:p>
        </p:txBody>
      </p:sp>
      <p:pic>
        <p:nvPicPr>
          <p:cNvPr id="221" name="Google Shape;221;p23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81750" y="2843212"/>
            <a:ext cx="25717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2" name="Google Shape;222;p23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81750" y="3576637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3" name="Google Shape;223;p23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381750" y="4310062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08;p22">
            <a:extLst>
              <a:ext uri="{FF2B5EF4-FFF2-40B4-BE49-F238E27FC236}">
                <a16:creationId xmlns:a16="http://schemas.microsoft.com/office/drawing/2014/main" id="{1EBA4499-1256-4A73-D52C-A9836FE38CFE}"/>
              </a:ext>
            </a:extLst>
          </p:cNvPr>
          <p:cNvSpPr txBox="1"/>
          <p:nvPr/>
        </p:nvSpPr>
        <p:spPr>
          <a:xfrm>
            <a:off x="6858000" y="4980095"/>
            <a:ext cx="444817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Agent name: </a:t>
            </a:r>
            <a:r>
              <a:rPr lang="en-US" sz="1500" dirty="0">
                <a:solidFill>
                  <a:schemeClr val="accent6"/>
                </a:solidFill>
                <a:latin typeface="Inter"/>
                <a:ea typeface="Inter"/>
                <a:cs typeface="Inter"/>
                <a:sym typeface="Inter"/>
              </a:rPr>
              <a:t>.codex/agents/</a:t>
            </a:r>
            <a:r>
              <a:rPr lang="en-US" sz="1500" b="0" i="0" u="none" strike="noStrike" cap="none" dirty="0" err="1">
                <a:solidFill>
                  <a:schemeClr val="accent6"/>
                </a:solidFill>
                <a:latin typeface="Inter"/>
                <a:ea typeface="Inter"/>
                <a:cs typeface="Inter"/>
                <a:sym typeface="Inter"/>
              </a:rPr>
              <a:t>ACCESSIBILITY.md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8" name="Google Shape;228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4"/>
          <p:cNvSpPr txBox="1"/>
          <p:nvPr/>
        </p:nvSpPr>
        <p:spPr>
          <a:xfrm>
            <a:off x="305276" y="1988790"/>
            <a:ext cx="11581447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600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QUESTIONS?</a:t>
            </a:r>
            <a:endParaRPr/>
          </a:p>
        </p:txBody>
      </p:sp>
      <p:sp>
        <p:nvSpPr>
          <p:cNvPr id="230" name="Google Shape;230;p24"/>
          <p:cNvSpPr txBox="1"/>
          <p:nvPr/>
        </p:nvSpPr>
        <p:spPr>
          <a:xfrm>
            <a:off x="581025" y="3322290"/>
            <a:ext cx="11029950" cy="3656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0F2FF"/>
                </a:solidFill>
                <a:latin typeface="Inter"/>
                <a:ea typeface="Inter"/>
                <a:cs typeface="Inter"/>
                <a:sym typeface="Inter"/>
              </a:rPr>
              <a:t>The era of Vibe Coding is here.</a:t>
            </a:r>
            <a:endParaRPr/>
          </a:p>
        </p:txBody>
      </p:sp>
      <p:sp>
        <p:nvSpPr>
          <p:cNvPr id="231" name="Google Shape;231;p24"/>
          <p:cNvSpPr txBox="1"/>
          <p:nvPr/>
        </p:nvSpPr>
        <p:spPr>
          <a:xfrm>
            <a:off x="581025" y="4259460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Codex-5.3 Documentation</a:t>
            </a:r>
            <a:endParaRPr dirty="0"/>
          </a:p>
        </p:txBody>
      </p:sp>
      <p:sp>
        <p:nvSpPr>
          <p:cNvPr id="232" name="Google Shape;232;p24"/>
          <p:cNvSpPr txBox="1"/>
          <p:nvPr/>
        </p:nvSpPr>
        <p:spPr>
          <a:xfrm>
            <a:off x="581025" y="4564260"/>
            <a:ext cx="110299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agent-</a:t>
            </a:r>
            <a:r>
              <a:rPr lang="en-US" sz="1500" b="0" i="0" u="none" strike="noStrike" cap="none" dirty="0" err="1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ops.codex.ai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474</Words>
  <Application>Microsoft Macintosh PowerPoint</Application>
  <PresentationFormat>Widescreen</PresentationFormat>
  <Paragraphs>61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Inter SemiBold</vt:lpstr>
      <vt:lpstr>Inter</vt:lpstr>
      <vt:lpstr>Arial</vt:lpstr>
      <vt:lpstr>Poppins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JN Mol</cp:lastModifiedBy>
  <cp:revision>1</cp:revision>
  <dcterms:modified xsi:type="dcterms:W3CDTF">2026-03-05T06:23:58Z</dcterms:modified>
</cp:coreProperties>
</file>