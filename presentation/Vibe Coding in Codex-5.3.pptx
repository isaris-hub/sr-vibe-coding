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00503000000020004"/>
      <p:regular r:id="rId15"/>
      <p:bold r:id="rId16"/>
      <p:italic r:id="rId17"/>
      <p:boldItalic r:id="rId18"/>
    </p:embeddedFont>
    <p:embeddedFont>
      <p:font typeface="Inter SemiBold" panose="02000503000000020004" pitchFamily="2" charset="0"/>
      <p:regular r:id="rId19"/>
      <p:bold r:id="rId20"/>
      <p:italic r:id="rId21"/>
      <p:boldItalic r:id="rId22"/>
    </p:embeddedFont>
    <p:embeddedFont>
      <p:font typeface="Poppins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14A89D-910C-4F28-B0B8-43BDB68E4E47}">
  <a:tblStyle styleId="{5914A89D-910C-4F28-B0B8-43BDB68E4E4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813619"/>
            <a:ext cx="11581447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chemeClr val="bg1"/>
                </a:solidFill>
                <a:latin typeface="Poppins"/>
                <a:cs typeface="Poppins"/>
                <a:sym typeface="Poppins"/>
              </a:rPr>
              <a:t>VIBE CODING</a:t>
            </a:r>
            <a:br>
              <a:rPr lang="en-US" sz="18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IN </a:t>
            </a:r>
            <a:r>
              <a:rPr lang="en-US" sz="5400" b="1" i="0" u="none" strike="noStrike" cap="none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CODEX-5.3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512641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D00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Architecting the Future of Agentic Workflows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4320331"/>
            <a:ext cx="952500" cy="38100"/>
          </a:xfrm>
          <a:prstGeom prst="rect">
            <a:avLst/>
          </a:prstGeom>
          <a:solidFill>
            <a:srgbClr val="00F2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739431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Multi-Agent Framework for High-Level Intent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05276" y="2142232"/>
            <a:ext cx="1158144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RISE </a:t>
            </a:r>
            <a:r>
              <a:rPr lang="en-US" sz="4500" b="1" i="0" u="none" strike="noStrike" cap="none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-US" sz="4500" b="1" i="0" u="none" strike="noStrike" cap="none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VIBE CODING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381625" y="3285232"/>
            <a:ext cx="1428750" cy="47625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3618607"/>
            <a:ext cx="7620000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Moving from manual syntax management to high-level intention orchestration. In Codex-5.3, we don't just write code; we cultivate vibes.</a:t>
            </a:r>
          </a:p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94A3B8"/>
              </a:solidFill>
              <a:latin typeface="Inter"/>
              <a:sym typeface="Inter"/>
            </a:endParaRPr>
          </a:p>
          <a:p>
            <a:pPr lvl="0" algn="ctr">
              <a:lnSpc>
                <a:spcPct val="159944"/>
              </a:lnSpc>
            </a:pPr>
            <a:r>
              <a:rPr lang="en-GB" sz="1800" dirty="0">
                <a:solidFill>
                  <a:srgbClr val="94A3B8"/>
                </a:solidFill>
                <a:latin typeface="Inter"/>
              </a:rPr>
              <a:t>https://</a:t>
            </a:r>
            <a:r>
              <a:rPr lang="en-GB" sz="1800" dirty="0" err="1">
                <a:solidFill>
                  <a:srgbClr val="94A3B8"/>
                </a:solidFill>
                <a:latin typeface="Inter"/>
              </a:rPr>
              <a:t>github.com</a:t>
            </a:r>
            <a:r>
              <a:rPr lang="en-GB" sz="1800" dirty="0">
                <a:solidFill>
                  <a:srgbClr val="94A3B8"/>
                </a:solidFill>
                <a:latin typeface="Inter"/>
              </a:rPr>
              <a:t>/</a:t>
            </a:r>
            <a:r>
              <a:rPr lang="en-GB" sz="1800" dirty="0" err="1">
                <a:solidFill>
                  <a:srgbClr val="94A3B8"/>
                </a:solidFill>
                <a:latin typeface="Inter"/>
              </a:rPr>
              <a:t>isaris</a:t>
            </a:r>
            <a:r>
              <a:rPr lang="en-GB" sz="1800" dirty="0">
                <a:solidFill>
                  <a:srgbClr val="94A3B8"/>
                </a:solidFill>
                <a:latin typeface="Inter"/>
              </a:rPr>
              <a:t>-hub/</a:t>
            </a:r>
            <a:r>
              <a:rPr lang="en-GB" sz="1800" dirty="0" err="1">
                <a:solidFill>
                  <a:srgbClr val="94A3B8"/>
                </a:solidFill>
                <a:latin typeface="Inter"/>
              </a:rPr>
              <a:t>sr</a:t>
            </a:r>
            <a:r>
              <a:rPr lang="en-GB" sz="1800" dirty="0">
                <a:solidFill>
                  <a:srgbClr val="94A3B8"/>
                </a:solidFill>
                <a:latin typeface="Inter"/>
              </a:rPr>
              <a:t>-vibe-coding</a:t>
            </a:r>
            <a:endParaRPr sz="1800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67000"/>
            <a:ext cx="522922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67000"/>
            <a:ext cx="522922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WHAT IS VIBE CODING?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71550" y="305752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THE PHILOSOPHY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71550" y="3533775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 on vision and system logic while AI handles the boilerplate. It's about describing the "vibe" of the feature and letting specialized agents realize it.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72275" y="305752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CODEX-5.3 FRAMEWORK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72275" y="3533775"/>
            <a:ext cx="44481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advanced environment specifically designed for multi-agent collaboration. It provides isolated contexts for Architect, Design, and Engineering roles.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25104"/>
            <a:ext cx="11029950" cy="280779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915352" y="2606129"/>
            <a:ext cx="1036129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THE INTELLIGENT CORE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162050" y="3520529"/>
            <a:ext cx="98679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The underlying neural fabric of Codex-5.3 powers the synthesis of complex requirements into functional, scalable software architectures.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THE ROOT AGENT</a:t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581025" y="2633662"/>
            <a:ext cx="549068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MASTER ORCHESTRATOR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81025" y="2909887"/>
            <a:ext cx="52292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Stored in </a:t>
            </a:r>
            <a:r>
              <a:rPr lang="en-US" sz="1500" b="0" i="0" u="none" strike="noStrike" cap="none" dirty="0" err="1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AGENTS.md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the Root Agent is the first point of contact for every session.</a:t>
            </a:r>
            <a:endParaRPr dirty="0"/>
          </a:p>
        </p:txBody>
      </p:sp>
      <p:pic>
        <p:nvPicPr>
          <p:cNvPr id="128" name="Google Shape;12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97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057275" y="3719512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Routes tasks to specialized agents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057275" y="4205287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Maintains global project state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057275" y="4691062"/>
            <a:ext cx="475297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Enforces system-wide constraints</a:t>
            </a:r>
            <a:endParaRPr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7576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2433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29162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771525" y="1847850"/>
            <a:ext cx="499062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ARCHITECT &amp; PLANNER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81025" y="1847850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81025" y="280035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Path: .codex/agents/ARCHITECT.md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81025" y="320040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Architect is the brain of the operation. It doesn't just write code; it designs systems.</a:t>
            </a:r>
            <a:endParaRPr dirty="0"/>
          </a:p>
        </p:txBody>
      </p:sp>
      <p:sp>
        <p:nvSpPr>
          <p:cNvPr id="144" name="Google Shape;144;p18"/>
          <p:cNvSpPr txBox="1"/>
          <p:nvPr/>
        </p:nvSpPr>
        <p:spPr>
          <a:xfrm>
            <a:off x="581025" y="3810000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separating the planning phase, Codex-5.3 ensures that every implementation follows a rigorous technical blueprint, preventing technical debt and spaghetti logic.</a:t>
            </a:r>
            <a:endParaRPr/>
          </a:p>
        </p:txBody>
      </p:sp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62525" y="2000250"/>
            <a:ext cx="66484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UI/UX DESIGNER</a:t>
            </a:r>
            <a:endParaRPr dirty="0"/>
          </a:p>
        </p:txBody>
      </p:sp>
      <p:sp>
        <p:nvSpPr>
          <p:cNvPr id="154" name="Google Shape;154;p19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00977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5353050" y="2390775"/>
            <a:ext cx="616077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VISUAL COHESION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5353050" y="2867025"/>
            <a:ext cx="5867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Designer agent (</a:t>
            </a:r>
            <a:r>
              <a:rPr lang="en-US" sz="1500" b="0" i="0" u="none" strike="noStrike" cap="none" dirty="0" err="1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DESIGNER.md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ensures that the application doesn't just work—it feels right.</a:t>
            </a:r>
            <a:endParaRPr dirty="0"/>
          </a:p>
        </p:txBody>
      </p:sp>
      <p:sp>
        <p:nvSpPr>
          <p:cNvPr id="158" name="Google Shape;158;p19"/>
          <p:cNvSpPr txBox="1"/>
          <p:nvPr/>
        </p:nvSpPr>
        <p:spPr>
          <a:xfrm>
            <a:off x="5353050" y="3676650"/>
            <a:ext cx="5867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maintains the design system, optimizes user flows, and provides the CSS/Tailwind specifications that the Frontend agent will eventually implement.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495550"/>
            <a:ext cx="5229225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495550"/>
            <a:ext cx="5229225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FRONTEND ENGINEER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8860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971550" y="353377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IMPLEMENTATION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71550" y="4010025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Translates design specifications into clean, modular React or Vue components with precision.</a:t>
            </a:r>
            <a:endParaRPr dirty="0"/>
          </a:p>
        </p:txBody>
      </p:sp>
      <p:pic>
        <p:nvPicPr>
          <p:cNvPr id="171" name="Google Shape;171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8860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0"/>
          <p:cNvSpPr txBox="1"/>
          <p:nvPr/>
        </p:nvSpPr>
        <p:spPr>
          <a:xfrm>
            <a:off x="6772275" y="3533775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INTERACTIVITY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6772275" y="4010025"/>
            <a:ext cx="44481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Handles state management, API integration, and performance optimization for the client side.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AGENT RESPONSIBILITY MATRIX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21"/>
          <p:cNvGraphicFramePr/>
          <p:nvPr>
            <p:extLst>
              <p:ext uri="{D42A27DB-BD31-4B8C-83A1-F6EECF244321}">
                <p14:modId xmlns:p14="http://schemas.microsoft.com/office/powerpoint/2010/main" val="4028577381"/>
              </p:ext>
            </p:extLst>
          </p:nvPr>
        </p:nvGraphicFramePr>
        <p:xfrm>
          <a:off x="581025" y="2524125"/>
          <a:ext cx="11029950" cy="295275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7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00F2FF"/>
                          </a:solidFill>
                          <a:sym typeface="Inter"/>
                        </a:rPr>
                        <a:t>Agent Role</a:t>
                      </a:r>
                      <a:endParaRPr dirty="0"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F2FF"/>
                          </a:solidFill>
                          <a:sym typeface="Inter"/>
                        </a:rPr>
                        <a:t>Storage Path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00F2FF"/>
                          </a:solidFill>
                          <a:sym typeface="Inter"/>
                        </a:rPr>
                        <a:t>Primary Objective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Root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AGENTS.md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Orchestration &amp; State Management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Architect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.codex/agents/ARCHITECT.md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System Planning &amp; Tech Selection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.codex/agents/FRONTEND.md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UI Logic &amp; Component Build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QA / Test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>
                          <a:solidFill>
                            <a:srgbClr val="F8FAFC"/>
                          </a:solidFill>
                          <a:sym typeface="Inter"/>
                        </a:rPr>
                        <a:t>.codex/agents/QA.md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strike="noStrike" cap="none" dirty="0">
                          <a:solidFill>
                            <a:srgbClr val="F8FAFC"/>
                          </a:solidFill>
                          <a:sym typeface="Inter"/>
                        </a:rPr>
                        <a:t>Validation &amp; Edge Case Catching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2" name="Google Shape;182;p21"/>
          <p:cNvSpPr/>
          <p:nvPr/>
        </p:nvSpPr>
        <p:spPr>
          <a:xfrm>
            <a:off x="581025" y="3086100"/>
            <a:ext cx="1776114" cy="1905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2357139" y="3086100"/>
            <a:ext cx="4340274" cy="1905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6697414" y="3086100"/>
            <a:ext cx="4913560" cy="1905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1"/>
          <p:cNvSpPr/>
          <p:nvPr/>
        </p:nvSpPr>
        <p:spPr>
          <a:xfrm>
            <a:off x="581025" y="3690937"/>
            <a:ext cx="17761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2357139" y="3690937"/>
            <a:ext cx="43402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6697414" y="3690937"/>
            <a:ext cx="4913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81025" y="4281487"/>
            <a:ext cx="17761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357139" y="4281487"/>
            <a:ext cx="43402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6697414" y="4281487"/>
            <a:ext cx="4913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81025" y="4872037"/>
            <a:ext cx="17761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357139" y="4872037"/>
            <a:ext cx="43402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6697414" y="4872037"/>
            <a:ext cx="4913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81025" y="5462587"/>
            <a:ext cx="177611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2357139" y="5462587"/>
            <a:ext cx="4340274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697414" y="5462587"/>
            <a:ext cx="491356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62237"/>
            <a:ext cx="5229225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2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RELIABILITY VIA QA AGENT</a:t>
            </a:r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581025" y="2895600"/>
            <a:ext cx="522922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99%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81025" y="461010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772275" y="3052762"/>
            <a:ext cx="4670583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THE FINAL GATEKEEPER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72275" y="3529012"/>
            <a:ext cx="44481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QA Engineer agent (</a:t>
            </a:r>
            <a:r>
              <a:rPr lang="en-US" sz="1500" b="0" i="0" u="none" strike="noStrike" cap="none" dirty="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.codex/agents/</a:t>
            </a:r>
            <a:r>
              <a:rPr lang="en-US" sz="1500" b="0" i="0" u="none" strike="noStrike" cap="none" dirty="0" err="1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QA.md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runs automated test suites, validates UI behavior against design, and proactively hunts for bugs before the human ever sees the code.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00250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 txBox="1"/>
          <p:nvPr/>
        </p:nvSpPr>
        <p:spPr>
          <a:xfrm>
            <a:off x="771525" y="581025"/>
            <a:ext cx="11381422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F2FF"/>
                </a:solidFill>
                <a:latin typeface="Poppins"/>
                <a:ea typeface="Poppins"/>
                <a:cs typeface="Poppins"/>
                <a:sym typeface="Poppins"/>
              </a:rPr>
              <a:t>ACCESSIBILITY &amp; CONTENT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581025" y="581025"/>
            <a:ext cx="47625" cy="571500"/>
          </a:xfrm>
          <a:prstGeom prst="rect">
            <a:avLst/>
          </a:prstGeom>
          <a:solidFill>
            <a:srgbClr val="9D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7" name="Google Shape;21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0550" y="200977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 txBox="1"/>
          <p:nvPr/>
        </p:nvSpPr>
        <p:spPr>
          <a:xfrm>
            <a:off x="6858000" y="2805112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Semantic HTML: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Ensures proper tag usage for screen readers.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6858000" y="3538537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ARIA Compliance: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Implements roles and labels correctly.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6858000" y="4271962"/>
            <a:ext cx="47529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Copy Editing: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Refines micro-copy for clarity and tone.</a:t>
            </a:r>
            <a:endParaRPr/>
          </a:p>
        </p:txBody>
      </p:sp>
      <p:pic>
        <p:nvPicPr>
          <p:cNvPr id="221" name="Google Shape;22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432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5766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31006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8;p22">
            <a:extLst>
              <a:ext uri="{FF2B5EF4-FFF2-40B4-BE49-F238E27FC236}">
                <a16:creationId xmlns:a16="http://schemas.microsoft.com/office/drawing/2014/main" id="{1EBA4499-1256-4A73-D52C-A9836FE38CFE}"/>
              </a:ext>
            </a:extLst>
          </p:cNvPr>
          <p:cNvSpPr txBox="1"/>
          <p:nvPr/>
        </p:nvSpPr>
        <p:spPr>
          <a:xfrm>
            <a:off x="6858000" y="4980095"/>
            <a:ext cx="4448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Agent name: </a:t>
            </a:r>
            <a:r>
              <a:rPr lang="en-US" sz="1500" dirty="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.codex/agents/</a:t>
            </a:r>
            <a:r>
              <a:rPr lang="en-US" sz="1500" b="0" i="0" u="none" strike="noStrike" cap="none" dirty="0" err="1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ACCESSIBILITY.md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 txBox="1"/>
          <p:nvPr/>
        </p:nvSpPr>
        <p:spPr>
          <a:xfrm>
            <a:off x="305276" y="1988790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30" name="Google Shape;230;p24"/>
          <p:cNvSpPr txBox="1"/>
          <p:nvPr/>
        </p:nvSpPr>
        <p:spPr>
          <a:xfrm>
            <a:off x="581025" y="3322290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F"/>
                </a:solidFill>
                <a:latin typeface="Inter"/>
                <a:ea typeface="Inter"/>
                <a:cs typeface="Inter"/>
                <a:sym typeface="Inter"/>
              </a:rPr>
              <a:t>The era of Vibe Coding is here.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581025" y="425946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Codex-5.3 Documentation</a:t>
            </a:r>
            <a:endParaRPr dirty="0"/>
          </a:p>
        </p:txBody>
      </p:sp>
      <p:sp>
        <p:nvSpPr>
          <p:cNvPr id="232" name="Google Shape;232;p24"/>
          <p:cNvSpPr txBox="1"/>
          <p:nvPr/>
        </p:nvSpPr>
        <p:spPr>
          <a:xfrm>
            <a:off x="581025" y="456426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agent-</a:t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ops.codex.ai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483</Words>
  <Application>Microsoft Macintosh PowerPoint</Application>
  <PresentationFormat>Widescreen</PresentationFormat>
  <Paragraphs>63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Inter SemiBold</vt:lpstr>
      <vt:lpstr>Inter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JN Mol</cp:lastModifiedBy>
  <cp:revision>2</cp:revision>
  <dcterms:modified xsi:type="dcterms:W3CDTF">2026-03-05T06:26:30Z</dcterms:modified>
</cp:coreProperties>
</file>